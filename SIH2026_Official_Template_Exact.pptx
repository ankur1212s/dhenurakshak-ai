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11480"/>
            <a:ext cx="8961120" cy="640080"/>
          </a:xfrm>
          <a:prstGeom prst="rect">
            <a:avLst/>
          </a:prstGeom>
          <a:noFill/>
        </p:spPr>
        <p:txBody>
          <a:bodyPr wrap="none">
            <a:spAutoFit/>
          </a:bodyPr>
          <a:lstStyle/>
          <a:p>
            <a:r>
              <a:rPr sz="3200" b="1">
                <a:solidFill>
                  <a:srgbClr val="1E3A8A"/>
                </a:solidFill>
                <a:latin typeface="Times New Roman"/>
              </a:rPr>
              <a:t>SMART INDIA HACKATHON 2026</a:t>
            </a:r>
          </a:p>
        </p:txBody>
      </p:sp>
      <p:sp>
        <p:nvSpPr>
          <p:cNvPr id="4" name="TextBox 3"/>
          <p:cNvSpPr txBox="1"/>
          <p:nvPr/>
        </p:nvSpPr>
        <p:spPr>
          <a:xfrm>
            <a:off x="10058400" y="320040"/>
            <a:ext cx="1828800" cy="914400"/>
          </a:xfrm>
          <a:prstGeom prst="rect">
            <a:avLst/>
          </a:prstGeom>
          <a:noFill/>
        </p:spPr>
        <p:txBody>
          <a:bodyPr wrap="none">
            <a:spAutoFit/>
          </a:bodyPr>
          <a:lstStyle/>
          <a:p>
            <a:pPr algn="r"/>
            <a:r>
              <a:rPr sz="1100" b="1">
                <a:solidFill>
                  <a:srgbClr val="1E3A8A"/>
                </a:solidFill>
                <a:latin typeface="Arial"/>
              </a:rPr>
              <a:t>SMART INDIA
HACKATHON
2026</a:t>
            </a:r>
          </a:p>
        </p:txBody>
      </p:sp>
      <p:sp>
        <p:nvSpPr>
          <p:cNvPr id="5" name="TextBox 4"/>
          <p:cNvSpPr txBox="1"/>
          <p:nvPr/>
        </p:nvSpPr>
        <p:spPr>
          <a:xfrm>
            <a:off x="914400" y="1097280"/>
            <a:ext cx="10362895" cy="502920"/>
          </a:xfrm>
          <a:prstGeom prst="rect">
            <a:avLst/>
          </a:prstGeom>
          <a:noFill/>
        </p:spPr>
        <p:txBody>
          <a:bodyPr wrap="none">
            <a:spAutoFit/>
          </a:bodyPr>
          <a:lstStyle/>
          <a:p>
            <a:pPr algn="ctr"/>
            <a:r>
              <a:rPr sz="2400" b="1">
                <a:solidFill>
                  <a:srgbClr val="000000"/>
                </a:solidFill>
                <a:latin typeface="Times New Roman"/>
              </a:rPr>
              <a:t>TITLE PAGE</a:t>
            </a:r>
          </a:p>
        </p:txBody>
      </p:sp>
      <p:sp>
        <p:nvSpPr>
          <p:cNvPr id="6" name="TextBox 5"/>
          <p:cNvSpPr txBox="1"/>
          <p:nvPr/>
        </p:nvSpPr>
        <p:spPr>
          <a:xfrm>
            <a:off x="731520" y="1737360"/>
            <a:ext cx="6949440" cy="4846320"/>
          </a:xfrm>
          <a:prstGeom prst="rect">
            <a:avLst/>
          </a:prstGeom>
          <a:noFill/>
        </p:spPr>
        <p:txBody>
          <a:bodyPr wrap="square">
            <a:spAutoFit/>
          </a:bodyPr>
          <a:lstStyle/>
          <a:p>
            <a:pPr>
              <a:spcAft>
                <a:spcPts val="1200"/>
              </a:spcAft>
            </a:pPr>
            <a:r>
              <a:rPr sz="1400" b="1">
                <a:solidFill>
                  <a:srgbClr val="000000"/>
                </a:solidFill>
                <a:latin typeface="Arial"/>
              </a:rPr>
              <a:t>• Problem Statement ID –</a:t>
            </a:r>
            <a:r>
              <a:rPr sz="1300">
                <a:solidFill>
                  <a:srgbClr val="1E293B"/>
                </a:solidFill>
                <a:latin typeface="Arial"/>
              </a:rPr>
              <a:t> [Enter your SIH PS ID, e.g. SIH109 / 1642]</a:t>
            </a:r>
          </a:p>
          <a:p>
            <a:pPr>
              <a:spcAft>
                <a:spcPts val="1200"/>
              </a:spcAft>
            </a:pPr>
            <a:r>
              <a:rPr sz="1400" b="1">
                <a:solidFill>
                  <a:srgbClr val="000000"/>
                </a:solidFill>
                <a:latin typeface="Arial"/>
              </a:rPr>
              <a:t>• Problem Statement Title-</a:t>
            </a:r>
            <a:r>
              <a:rPr sz="1300">
                <a:solidFill>
                  <a:srgbClr val="1E293B"/>
                </a:solidFill>
                <a:latin typeface="Arial"/>
              </a:rPr>
              <a:t> Early Detection and Prevention of Bovine Mastitis in Dairy Cattle</a:t>
            </a:r>
          </a:p>
          <a:p>
            <a:pPr>
              <a:spcAft>
                <a:spcPts val="1200"/>
              </a:spcAft>
            </a:pPr>
            <a:r>
              <a:rPr sz="1400" b="1">
                <a:solidFill>
                  <a:srgbClr val="000000"/>
                </a:solidFill>
                <a:latin typeface="Arial"/>
              </a:rPr>
              <a:t>• Theme-</a:t>
            </a:r>
            <a:r>
              <a:rPr sz="1300">
                <a:solidFill>
                  <a:srgbClr val="1E293B"/>
                </a:solidFill>
                <a:latin typeface="Arial"/>
              </a:rPr>
              <a:t> Agriculture, FoodTech &amp; Rural Development / IoT / MedTech</a:t>
            </a:r>
          </a:p>
          <a:p>
            <a:pPr>
              <a:spcAft>
                <a:spcPts val="1200"/>
              </a:spcAft>
            </a:pPr>
            <a:r>
              <a:rPr sz="1400" b="1">
                <a:solidFill>
                  <a:srgbClr val="000000"/>
                </a:solidFill>
                <a:latin typeface="Arial"/>
              </a:rPr>
              <a:t>• PS Category-</a:t>
            </a:r>
            <a:r>
              <a:rPr sz="1300">
                <a:solidFill>
                  <a:srgbClr val="1E293B"/>
                </a:solidFill>
                <a:latin typeface="Arial"/>
              </a:rPr>
              <a:t> Hardware (IoT, Wireless DSP &amp; Multi-Sensor Cloud Platform)</a:t>
            </a:r>
          </a:p>
          <a:p>
            <a:pPr>
              <a:spcAft>
                <a:spcPts val="1200"/>
              </a:spcAft>
            </a:pPr>
            <a:r>
              <a:rPr sz="1400" b="1">
                <a:solidFill>
                  <a:srgbClr val="000000"/>
                </a:solidFill>
                <a:latin typeface="Arial"/>
              </a:rPr>
              <a:t>• Team ID-</a:t>
            </a:r>
            <a:r>
              <a:rPr sz="1300">
                <a:solidFill>
                  <a:srgbClr val="1E293B"/>
                </a:solidFill>
                <a:latin typeface="Arial"/>
              </a:rPr>
              <a:t> [Enter your Team ID from SIH Portal]</a:t>
            </a:r>
          </a:p>
          <a:p>
            <a:pPr>
              <a:spcAft>
                <a:spcPts val="1200"/>
              </a:spcAft>
            </a:pPr>
            <a:r>
              <a:rPr sz="1400" b="1">
                <a:solidFill>
                  <a:srgbClr val="000000"/>
                </a:solidFill>
                <a:latin typeface="Arial"/>
              </a:rPr>
              <a:t>• Team Name (Registered on portal)</a:t>
            </a:r>
            <a:r>
              <a:rPr sz="1300">
                <a:solidFill>
                  <a:srgbClr val="1E293B"/>
                </a:solidFill>
                <a:latin typeface="Arial"/>
              </a:rPr>
              <a:t> [Enter your Registered Team Name]</a:t>
            </a:r>
          </a:p>
          <a:p>
            <a:pPr>
              <a:spcAft>
                <a:spcPts val="1200"/>
              </a:spcAft>
            </a:pPr>
            <a:r>
              <a:rPr sz="1400" b="1">
                <a:solidFill>
                  <a:srgbClr val="000000"/>
                </a:solidFill>
                <a:latin typeface="Arial"/>
              </a:rPr>
              <a:t>• Project Name-</a:t>
            </a:r>
            <a:r>
              <a:rPr sz="1300">
                <a:solidFill>
                  <a:srgbClr val="1E293B"/>
                </a:solidFill>
                <a:latin typeface="Arial"/>
              </a:rPr>
              <a:t> LactoGuard (DhenuRakshak AI) — Zero-Pi IoT &amp; Edge AI Herd Health Ecosystem</a:t>
            </a:r>
          </a:p>
        </p:txBody>
      </p:sp>
      <p:sp>
        <p:nvSpPr>
          <p:cNvPr id="7" name="Rounded Rectangle 6"/>
          <p:cNvSpPr/>
          <p:nvPr/>
        </p:nvSpPr>
        <p:spPr>
          <a:xfrm>
            <a:off x="7955279" y="1920240"/>
            <a:ext cx="3657600" cy="4389120"/>
          </a:xfrm>
          <a:prstGeom prst="roundRect">
            <a:avLst/>
          </a:prstGeom>
          <a:solidFill>
            <a:srgbClr val="F8FAFC"/>
          </a:solidFill>
          <a:ln w="19050">
            <a:solidFill>
              <a:srgbClr val="1D70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E3A8A"/>
                </a:solidFill>
                <a:latin typeface="Arial"/>
              </a:rPr>
              <a:t>PROTOTYPE OVERVIEW
</a:t>
            </a:r>
          </a:p>
          <a:p>
            <a:pPr>
              <a:spcAft>
                <a:spcPts val="800"/>
              </a:spcAft>
            </a:pPr>
            <a:r>
              <a:rPr sz="1100">
                <a:solidFill>
                  <a:srgbClr val="1E293B"/>
                </a:solidFill>
                <a:latin typeface="Arial"/>
              </a:rPr>
              <a:t>▪ 🐄 Smart Ear Tag Node
   ADXL345 50Hz DSP + LM35 Temp</a:t>
            </a:r>
          </a:p>
          <a:p>
            <a:pPr>
              <a:spcAft>
                <a:spcPts val="800"/>
              </a:spcAft>
            </a:pPr>
            <a:r>
              <a:rPr sz="1100">
                <a:solidFill>
                  <a:srgbClr val="1E293B"/>
                </a:solidFill>
                <a:latin typeface="Arial"/>
              </a:rPr>
              <a:t>▪ 🥛 Handheld Milking Bucket Meter
   MFRC522 RFID + Milk EC + Milk pH</a:t>
            </a:r>
          </a:p>
          <a:p>
            <a:pPr>
              <a:spcAft>
                <a:spcPts val="800"/>
              </a:spcAft>
            </a:pPr>
            <a:r>
              <a:rPr sz="1100">
                <a:solidFill>
                  <a:srgbClr val="1E293B"/>
                </a:solidFill>
                <a:latin typeface="Arial"/>
              </a:rPr>
              <a:t>▪ ⚡ Zero-Pi Central ESP32 Gateway
   ESP-NOW Multi-Node Ingest (&lt;5ms)</a:t>
            </a:r>
          </a:p>
          <a:p>
            <a:pPr>
              <a:spcAft>
                <a:spcPts val="800"/>
              </a:spcAft>
            </a:pPr>
            <a:r>
              <a:rPr sz="1100">
                <a:solidFill>
                  <a:srgbClr val="1E293B"/>
                </a:solidFill>
                <a:latin typeface="Arial"/>
              </a:rPr>
              <a:t>▪ ☁️ Cloud Web Dashboard &amp; DB
   MongoDB Atlas + Netlify Serverless</a:t>
            </a:r>
          </a:p>
          <a:p>
            <a:pPr>
              <a:spcAft>
                <a:spcPts val="800"/>
              </a:spcAft>
            </a:pPr>
            <a:r>
              <a:rPr sz="1100">
                <a:solidFill>
                  <a:srgbClr val="1E293B"/>
                </a:solidFill>
                <a:latin typeface="Arial"/>
              </a:rPr>
              <a:t>▪ 💰 Total System Cost: &lt; ₹2,000
   Disrupting ₹45,000+ foreign collars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320040"/>
            <a:ext cx="1417320" cy="960120"/>
          </a:xfrm>
          <a:prstGeom prst="ellipse">
            <a:avLst/>
          </a:prstGeom>
          <a:solidFill>
            <a:srgbClr val="FFFFFF"/>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000000"/>
                </a:solidFill>
                <a:latin typeface="Arial"/>
              </a:rPr>
              <a:t>Your
Team
Name</a:t>
            </a:r>
          </a:p>
        </p:txBody>
      </p:sp>
      <p:sp>
        <p:nvSpPr>
          <p:cNvPr id="4" name="TextBox 3"/>
          <p:cNvSpPr txBox="1"/>
          <p:nvPr/>
        </p:nvSpPr>
        <p:spPr>
          <a:xfrm>
            <a:off x="2286000" y="365760"/>
            <a:ext cx="7619695" cy="822960"/>
          </a:xfrm>
          <a:prstGeom prst="rect">
            <a:avLst/>
          </a:prstGeom>
          <a:noFill/>
        </p:spPr>
        <p:txBody>
          <a:bodyPr wrap="square">
            <a:spAutoFit/>
          </a:bodyPr>
          <a:lstStyle/>
          <a:p>
            <a:pPr algn="ctr"/>
            <a:r>
              <a:rPr sz="2600" b="1">
                <a:solidFill>
                  <a:srgbClr val="000000"/>
                </a:solidFill>
                <a:latin typeface="Times New Roman"/>
              </a:rPr>
              <a:t>IDEA TITLE: LACTOGUARD</a:t>
            </a:r>
          </a:p>
        </p:txBody>
      </p:sp>
      <p:sp>
        <p:nvSpPr>
          <p:cNvPr id="5" name="TextBox 4"/>
          <p:cNvSpPr txBox="1"/>
          <p:nvPr/>
        </p:nvSpPr>
        <p:spPr>
          <a:xfrm>
            <a:off x="10058400" y="320040"/>
            <a:ext cx="1828800" cy="914400"/>
          </a:xfrm>
          <a:prstGeom prst="rect">
            <a:avLst/>
          </a:prstGeom>
          <a:noFill/>
        </p:spPr>
        <p:txBody>
          <a:bodyPr wrap="none">
            <a:spAutoFit/>
          </a:bodyPr>
          <a:lstStyle/>
          <a:p>
            <a:pPr algn="r"/>
            <a:r>
              <a:rPr sz="1100" b="1">
                <a:solidFill>
                  <a:srgbClr val="1E3A8A"/>
                </a:solidFill>
                <a:latin typeface="Arial"/>
              </a:rPr>
              <a:t>SMART INDIA
HACKATHON
2026</a:t>
            </a:r>
          </a:p>
        </p:txBody>
      </p:sp>
      <p:sp>
        <p:nvSpPr>
          <p:cNvPr id="6" name="Rectangle 5"/>
          <p:cNvSpPr/>
          <p:nvPr/>
        </p:nvSpPr>
        <p:spPr>
          <a:xfrm>
            <a:off x="0" y="6446520"/>
            <a:ext cx="12191695" cy="411480"/>
          </a:xfrm>
          <a:prstGeom prst="rect">
            <a:avLst/>
          </a:prstGeom>
          <a:solidFill>
            <a:srgbClr val="1D70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FFFFFF"/>
                </a:solidFill>
                <a:latin typeface="Arial"/>
              </a:rPr>
              <a:t>@SIH Idea submission- Template    2</a:t>
            </a:r>
          </a:p>
        </p:txBody>
      </p:sp>
      <p:sp>
        <p:nvSpPr>
          <p:cNvPr id="7" name="TextBox 6"/>
          <p:cNvSpPr txBox="1"/>
          <p:nvPr/>
        </p:nvSpPr>
        <p:spPr>
          <a:xfrm>
            <a:off x="548640" y="1280160"/>
            <a:ext cx="11094415" cy="411480"/>
          </a:xfrm>
          <a:prstGeom prst="rect">
            <a:avLst/>
          </a:prstGeom>
          <a:noFill/>
        </p:spPr>
        <p:txBody>
          <a:bodyPr wrap="none">
            <a:spAutoFit/>
          </a:bodyPr>
          <a:lstStyle/>
          <a:p>
            <a:r>
              <a:rPr sz="1800" b="1">
                <a:solidFill>
                  <a:srgbClr val="1E3A8A"/>
                </a:solidFill>
                <a:latin typeface="Arial"/>
              </a:rPr>
              <a:t>❖Proposed Solution (Describe your Idea/Solution/Prototype)</a:t>
            </a:r>
          </a:p>
        </p:txBody>
      </p:sp>
      <p:sp>
        <p:nvSpPr>
          <p:cNvPr id="8" name="TextBox 7"/>
          <p:cNvSpPr txBox="1"/>
          <p:nvPr/>
        </p:nvSpPr>
        <p:spPr>
          <a:xfrm>
            <a:off x="548640" y="1783080"/>
            <a:ext cx="11094415" cy="4572000"/>
          </a:xfrm>
          <a:prstGeom prst="rect">
            <a:avLst/>
          </a:prstGeom>
          <a:noFill/>
        </p:spPr>
        <p:txBody>
          <a:bodyPr wrap="square">
            <a:spAutoFit/>
          </a:bodyPr>
          <a:lstStyle/>
          <a:p>
            <a:pPr>
              <a:spcBef>
                <a:spcPts val="400"/>
              </a:spcBef>
            </a:pPr>
            <a:r>
              <a:rPr sz="1400" b="1">
                <a:solidFill>
                  <a:srgbClr val="000000"/>
                </a:solidFill>
                <a:latin typeface="Arial"/>
              </a:rPr>
              <a:t>• Detailed explanation of the proposed solution</a:t>
            </a:r>
          </a:p>
          <a:p>
            <a:pPr>
              <a:spcAft>
                <a:spcPts val="400"/>
              </a:spcAft>
            </a:pPr>
            <a:r>
              <a:rPr sz="1150">
                <a:solidFill>
                  <a:srgbClr val="1E293B"/>
                </a:solidFill>
              </a:rPr>
              <a:t>   - Pillar 1 (Continuous Behavioral Monitoring): Smart Cattle Ear Tag with 3-axis ADXL345 accelerometer running 50Hz kinematic DSP to track rumination jaw chewing dynamics (50–70 CPM) and precision LM35 core body temperature.</a:t>
            </a:r>
          </a:p>
          <a:p>
            <a:pPr>
              <a:spcAft>
                <a:spcPts val="400"/>
              </a:spcAft>
            </a:pPr>
            <a:r>
              <a:rPr sz="1150">
                <a:solidFill>
                  <a:srgbClr val="1E293B"/>
                </a:solidFill>
              </a:rPr>
              <a:t>   - Pillar 2 (Direct Milk Bio-Sensing): Low-cost Handheld Bucket Meter equipped with MFRC522 RFID reader, analog Electrical Conductivity (EC) probe, and analog pH sensor. Farmer taps meter on cow's RFID ear tag, clips it to the milking bucket wall, and presses START to sample milk during milking.</a:t>
            </a:r>
          </a:p>
          <a:p>
            <a:pPr>
              <a:spcAft>
                <a:spcPts val="800"/>
              </a:spcAft>
            </a:pPr>
            <a:r>
              <a:rPr sz="1150">
                <a:solidFill>
                  <a:srgbClr val="1E293B"/>
                </a:solidFill>
              </a:rPr>
              <a:t>   - Central ESP32 Gateway: Eliminates Raspberry Pi; receives telemetry from both nodes via sub-5ms ESP-NOW wireless broadcast and pushes enriched JSON directly to MongoDB Atlas Cloud via Wi-Fi or 4G GSM.</a:t>
            </a:r>
          </a:p>
          <a:p>
            <a:r>
              <a:rPr sz="1400" b="1">
                <a:solidFill>
                  <a:srgbClr val="000000"/>
                </a:solidFill>
                <a:latin typeface="Arial"/>
              </a:rPr>
              <a:t>• How it addresses the problem</a:t>
            </a:r>
          </a:p>
          <a:p>
            <a:pPr>
              <a:spcAft>
                <a:spcPts val="400"/>
              </a:spcAft>
            </a:pPr>
            <a:r>
              <a:rPr sz="1150">
                <a:solidFill>
                  <a:srgbClr val="1E293B"/>
                </a:solidFill>
              </a:rPr>
              <a:t>   - Detects Subclinical Mastitis 7 to 14 days before visible swelling, milk clotting, or irreversible mammary tissue damage occurs.</a:t>
            </a:r>
          </a:p>
          <a:p>
            <a:pPr>
              <a:spcAft>
                <a:spcPts val="800"/>
              </a:spcAft>
            </a:pPr>
            <a:r>
              <a:rPr sz="1150">
                <a:solidFill>
                  <a:srgbClr val="1E293B"/>
                </a:solidFill>
              </a:rPr>
              <a:t>   - Solves the Economic Barrier for 85% of Indian dairy smallholders (owning 2–5 cows) by delivering an end-to-end multi-device system under ₹2,000, replacing foreign collars costing ₹35,000–₹50,000 per cow.</a:t>
            </a:r>
          </a:p>
          <a:p>
            <a:r>
              <a:rPr sz="1400" b="1">
                <a:solidFill>
                  <a:srgbClr val="000000"/>
                </a:solidFill>
                <a:latin typeface="Arial"/>
              </a:rPr>
              <a:t>• Innovation and uniqueness of the solution</a:t>
            </a:r>
          </a:p>
          <a:p>
            <a:pPr>
              <a:spcAft>
                <a:spcPts val="400"/>
              </a:spcAft>
            </a:pPr>
            <a:r>
              <a:rPr sz="1150">
                <a:solidFill>
                  <a:srgbClr val="1E293B"/>
                </a:solidFill>
              </a:rPr>
              <a:t>   - Multi-Modal Diagnostic Fusion: Cross-validates systemic behavioral changes (rumination drop) with physical milk ionic leakage (Na+/Cl- surge causing EC &gt; 5.8 mS/cm and pH &gt; 6.8), eliminating false positives.</a:t>
            </a:r>
          </a:p>
          <a:p>
            <a:r>
              <a:rPr sz="1150">
                <a:solidFill>
                  <a:srgbClr val="1E293B"/>
                </a:solidFill>
              </a:rPr>
              <a:t>   - Zero-Config ESP-NOW Peer-to-Peer Protocol: Transmits in &lt; 5ms without needing router pairing, passwords, or smartphone intervention by rural farmers.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320040"/>
            <a:ext cx="1417320" cy="960120"/>
          </a:xfrm>
          <a:prstGeom prst="ellipse">
            <a:avLst/>
          </a:prstGeom>
          <a:solidFill>
            <a:srgbClr val="FFFFFF"/>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000000"/>
                </a:solidFill>
                <a:latin typeface="Arial"/>
              </a:rPr>
              <a:t>Your
Team
Name</a:t>
            </a:r>
          </a:p>
        </p:txBody>
      </p:sp>
      <p:sp>
        <p:nvSpPr>
          <p:cNvPr id="4" name="TextBox 3"/>
          <p:cNvSpPr txBox="1"/>
          <p:nvPr/>
        </p:nvSpPr>
        <p:spPr>
          <a:xfrm>
            <a:off x="2286000" y="365760"/>
            <a:ext cx="7619695" cy="822960"/>
          </a:xfrm>
          <a:prstGeom prst="rect">
            <a:avLst/>
          </a:prstGeom>
          <a:noFill/>
        </p:spPr>
        <p:txBody>
          <a:bodyPr wrap="square">
            <a:spAutoFit/>
          </a:bodyPr>
          <a:lstStyle/>
          <a:p>
            <a:pPr algn="ctr"/>
            <a:r>
              <a:rPr sz="2600" b="1">
                <a:solidFill>
                  <a:srgbClr val="000000"/>
                </a:solidFill>
                <a:latin typeface="Times New Roman"/>
              </a:rPr>
              <a:t>TECHNICAL APPROACH</a:t>
            </a:r>
          </a:p>
        </p:txBody>
      </p:sp>
      <p:sp>
        <p:nvSpPr>
          <p:cNvPr id="5" name="TextBox 4"/>
          <p:cNvSpPr txBox="1"/>
          <p:nvPr/>
        </p:nvSpPr>
        <p:spPr>
          <a:xfrm>
            <a:off x="10058400" y="320040"/>
            <a:ext cx="1828800" cy="914400"/>
          </a:xfrm>
          <a:prstGeom prst="rect">
            <a:avLst/>
          </a:prstGeom>
          <a:noFill/>
        </p:spPr>
        <p:txBody>
          <a:bodyPr wrap="none">
            <a:spAutoFit/>
          </a:bodyPr>
          <a:lstStyle/>
          <a:p>
            <a:pPr algn="r"/>
            <a:r>
              <a:rPr sz="1100" b="1">
                <a:solidFill>
                  <a:srgbClr val="1E3A8A"/>
                </a:solidFill>
                <a:latin typeface="Arial"/>
              </a:rPr>
              <a:t>SMART INDIA
HACKATHON
2026</a:t>
            </a:r>
          </a:p>
        </p:txBody>
      </p:sp>
      <p:sp>
        <p:nvSpPr>
          <p:cNvPr id="6" name="Rectangle 5"/>
          <p:cNvSpPr/>
          <p:nvPr/>
        </p:nvSpPr>
        <p:spPr>
          <a:xfrm>
            <a:off x="0" y="6446520"/>
            <a:ext cx="12191695" cy="411480"/>
          </a:xfrm>
          <a:prstGeom prst="rect">
            <a:avLst/>
          </a:prstGeom>
          <a:solidFill>
            <a:srgbClr val="1D70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FFFFFF"/>
                </a:solidFill>
                <a:latin typeface="Arial"/>
              </a:rPr>
              <a:t>@SIH Idea submission- Template    3</a:t>
            </a:r>
          </a:p>
        </p:txBody>
      </p:sp>
      <p:sp>
        <p:nvSpPr>
          <p:cNvPr id="7" name="TextBox 6"/>
          <p:cNvSpPr txBox="1"/>
          <p:nvPr/>
        </p:nvSpPr>
        <p:spPr>
          <a:xfrm>
            <a:off x="548640" y="1371600"/>
            <a:ext cx="11094415" cy="4937760"/>
          </a:xfrm>
          <a:prstGeom prst="rect">
            <a:avLst/>
          </a:prstGeom>
          <a:noFill/>
        </p:spPr>
        <p:txBody>
          <a:bodyPr wrap="square">
            <a:spAutoFit/>
          </a:bodyPr>
          <a:lstStyle/>
          <a:p>
            <a:r>
              <a:rPr sz="1400" b="1">
                <a:solidFill>
                  <a:srgbClr val="000000"/>
                </a:solidFill>
                <a:latin typeface="Arial"/>
              </a:rPr>
              <a:t>• Technologies to be used (e.g. programming languages, frameworks, hardware)</a:t>
            </a:r>
          </a:p>
          <a:p>
            <a:pPr>
              <a:spcAft>
                <a:spcPts val="300"/>
              </a:spcAft>
            </a:pPr>
            <a:r>
              <a:rPr sz="1100">
                <a:solidFill>
                  <a:srgbClr val="1E293B"/>
                </a:solidFill>
              </a:rPr>
              <a:t>   - Hardware &amp; MCUs: ESP32 DevKit V1 (Dual-Core 240MHz) on Ear Tag, Bucket Meter &amp; Central Gateway.</a:t>
            </a:r>
          </a:p>
          <a:p>
            <a:pPr>
              <a:spcAft>
                <a:spcPts val="300"/>
              </a:spcAft>
            </a:pPr>
            <a:r>
              <a:rPr sz="1100">
                <a:solidFill>
                  <a:srgbClr val="1E293B"/>
                </a:solidFill>
              </a:rPr>
              <a:t>   - Sensors &amp; Signal Conditioning: ADXL345 (3-Axis I2C Accelerometer), LM35 Precision Analog Temp Sensor (ADC1), MFRC522 (13.56 MHz SPI RFID), Analog EC (K=1.0) &amp; pH Probes.</a:t>
            </a:r>
          </a:p>
          <a:p>
            <a:pPr>
              <a:spcAft>
                <a:spcPts val="300"/>
              </a:spcAft>
            </a:pPr>
            <a:r>
              <a:rPr sz="1100">
                <a:solidFill>
                  <a:srgbClr val="1E293B"/>
                </a:solidFill>
              </a:rPr>
              <a:t>   - Wireless &amp; Network Stack: ESP-NOW (2.4GHz connectionless raw action frames, &lt; 5ms latency, channel-hopping 1–11) + 4G GSM (SIMCOM A7670C UART AT Commands).</a:t>
            </a:r>
          </a:p>
          <a:p>
            <a:pPr>
              <a:spcAft>
                <a:spcPts val="300"/>
              </a:spcAft>
            </a:pPr>
            <a:r>
              <a:rPr sz="1100">
                <a:solidFill>
                  <a:srgbClr val="1E293B"/>
                </a:solidFill>
              </a:rPr>
              <a:t>   - Cloud &amp; Data Pipeline: Netlify Serverless Cloud Functions, MongoDB Atlas NoSQL Database (Cluster0).</a:t>
            </a:r>
          </a:p>
          <a:p>
            <a:pPr>
              <a:spcAft>
                <a:spcPts val="300"/>
              </a:spcAft>
            </a:pPr>
            <a:r>
              <a:rPr sz="1100">
                <a:solidFill>
                  <a:srgbClr val="1E293B"/>
                </a:solidFill>
              </a:rPr>
              <a:t>   - Frontend &amp; Visualization: React 18, Vite, TailwindCSS — Mobile-first, OTP authenticated, multilingual.</a:t>
            </a:r>
          </a:p>
          <a:p>
            <a:pPr>
              <a:spcBef>
                <a:spcPts val="800"/>
              </a:spcBef>
            </a:pPr>
            <a:r>
              <a:rPr sz="1400" b="1">
                <a:solidFill>
                  <a:srgbClr val="000000"/>
                </a:solidFill>
                <a:latin typeface="Arial"/>
              </a:rPr>
              <a:t>• Methodology and process for implementation (Flow Charts/Images/ working prototype)</a:t>
            </a:r>
          </a:p>
          <a:p>
            <a:pPr>
              <a:spcAft>
                <a:spcPts val="300"/>
              </a:spcAft>
            </a:pPr>
            <a:r>
              <a:rPr sz="1100">
                <a:solidFill>
                  <a:srgbClr val="1E293B"/>
                </a:solidFill>
              </a:rPr>
              <a:t>   - 1. Kinematic DSP Pipeline: Ear Tag samples ADXL345 at 50Hz. Dual-EMA filter detrends dynamic movement from 1g Earth gravity. Schmitt trigger with 500ms refractory lockout detects jaw cud chewing and computes CPM.</a:t>
            </a:r>
          </a:p>
          <a:p>
            <a:pPr>
              <a:spcAft>
                <a:spcPts val="300"/>
              </a:spcAft>
            </a:pPr>
            <a:r>
              <a:rPr sz="1100">
                <a:solidFill>
                  <a:srgbClr val="1E293B"/>
                </a:solidFill>
              </a:rPr>
              <a:t>   - 2. Milking Ingest &amp; Tagging: Farmer taps Bucket Meter to ear tag (MFRC522 RFID read). Meter clips to bucket wall; analog probes oversample milk EC &amp; pH during milking. Pressing SEND computes session averages.</a:t>
            </a:r>
          </a:p>
          <a:p>
            <a:pPr>
              <a:spcAft>
                <a:spcPts val="300"/>
              </a:spcAft>
            </a:pPr>
            <a:r>
              <a:rPr sz="1100">
                <a:solidFill>
                  <a:srgbClr val="1E293B"/>
                </a:solidFill>
              </a:rPr>
              <a:t>   - 3. Zero-Pi Edge Relay: Bucket Meter and Ear Tag broadcast binary packets over ESP-NOW directly to Central ESP32 Gateway in &lt; 5ms without router association.</a:t>
            </a:r>
          </a:p>
          <a:p>
            <a:pPr>
              <a:spcAft>
                <a:spcPts val="300"/>
              </a:spcAft>
            </a:pPr>
            <a:r>
              <a:rPr sz="1100">
                <a:solidFill>
                  <a:srgbClr val="1E293B"/>
                </a:solidFill>
              </a:rPr>
              <a:t>   - 4. Cloud Diagnostics &amp; Alerting: Gateway forwards payload to Netlify serverless endpoint into MongoDB Atlas. Web dashboard (https://dhenurakshak.netlify.app/) displays real-time health stream and 7–14 day mastitis forecast.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320040"/>
            <a:ext cx="1417320" cy="960120"/>
          </a:xfrm>
          <a:prstGeom prst="ellipse">
            <a:avLst/>
          </a:prstGeom>
          <a:solidFill>
            <a:srgbClr val="FFFFFF"/>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000000"/>
                </a:solidFill>
                <a:latin typeface="Arial"/>
              </a:rPr>
              <a:t>Your
Team
Name</a:t>
            </a:r>
          </a:p>
        </p:txBody>
      </p:sp>
      <p:sp>
        <p:nvSpPr>
          <p:cNvPr id="4" name="TextBox 3"/>
          <p:cNvSpPr txBox="1"/>
          <p:nvPr/>
        </p:nvSpPr>
        <p:spPr>
          <a:xfrm>
            <a:off x="2286000" y="365760"/>
            <a:ext cx="7619695" cy="822960"/>
          </a:xfrm>
          <a:prstGeom prst="rect">
            <a:avLst/>
          </a:prstGeom>
          <a:noFill/>
        </p:spPr>
        <p:txBody>
          <a:bodyPr wrap="square">
            <a:spAutoFit/>
          </a:bodyPr>
          <a:lstStyle/>
          <a:p>
            <a:pPr algn="ctr"/>
            <a:r>
              <a:rPr sz="2600" b="1">
                <a:solidFill>
                  <a:srgbClr val="000000"/>
                </a:solidFill>
                <a:latin typeface="Times New Roman"/>
              </a:rPr>
              <a:t>FEASIBILITY AND VIABILITY</a:t>
            </a:r>
          </a:p>
        </p:txBody>
      </p:sp>
      <p:sp>
        <p:nvSpPr>
          <p:cNvPr id="5" name="TextBox 4"/>
          <p:cNvSpPr txBox="1"/>
          <p:nvPr/>
        </p:nvSpPr>
        <p:spPr>
          <a:xfrm>
            <a:off x="10058400" y="320040"/>
            <a:ext cx="1828800" cy="914400"/>
          </a:xfrm>
          <a:prstGeom prst="rect">
            <a:avLst/>
          </a:prstGeom>
          <a:noFill/>
        </p:spPr>
        <p:txBody>
          <a:bodyPr wrap="none">
            <a:spAutoFit/>
          </a:bodyPr>
          <a:lstStyle/>
          <a:p>
            <a:pPr algn="r"/>
            <a:r>
              <a:rPr sz="1100" b="1">
                <a:solidFill>
                  <a:srgbClr val="1E3A8A"/>
                </a:solidFill>
                <a:latin typeface="Arial"/>
              </a:rPr>
              <a:t>SMART INDIA
HACKATHON
2026</a:t>
            </a:r>
          </a:p>
        </p:txBody>
      </p:sp>
      <p:sp>
        <p:nvSpPr>
          <p:cNvPr id="6" name="Rectangle 5"/>
          <p:cNvSpPr/>
          <p:nvPr/>
        </p:nvSpPr>
        <p:spPr>
          <a:xfrm>
            <a:off x="0" y="6446520"/>
            <a:ext cx="12191695" cy="411480"/>
          </a:xfrm>
          <a:prstGeom prst="rect">
            <a:avLst/>
          </a:prstGeom>
          <a:solidFill>
            <a:srgbClr val="1D70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FFFFFF"/>
                </a:solidFill>
                <a:latin typeface="Arial"/>
              </a:rPr>
              <a:t>@SIH Idea submission- Template    4</a:t>
            </a:r>
          </a:p>
        </p:txBody>
      </p:sp>
      <p:sp>
        <p:nvSpPr>
          <p:cNvPr id="7" name="TextBox 6"/>
          <p:cNvSpPr txBox="1"/>
          <p:nvPr/>
        </p:nvSpPr>
        <p:spPr>
          <a:xfrm>
            <a:off x="548640" y="1371600"/>
            <a:ext cx="11094415" cy="4937760"/>
          </a:xfrm>
          <a:prstGeom prst="rect">
            <a:avLst/>
          </a:prstGeom>
          <a:noFill/>
        </p:spPr>
        <p:txBody>
          <a:bodyPr wrap="square">
            <a:spAutoFit/>
          </a:bodyPr>
          <a:lstStyle/>
          <a:p>
            <a:r>
              <a:rPr sz="1400" b="1">
                <a:solidFill>
                  <a:srgbClr val="000000"/>
                </a:solidFill>
                <a:latin typeface="Arial"/>
              </a:rPr>
              <a:t>• Analysis of the feasibility of the idea</a:t>
            </a:r>
          </a:p>
          <a:p>
            <a:pPr>
              <a:spcAft>
                <a:spcPts val="300"/>
              </a:spcAft>
            </a:pPr>
            <a:r>
              <a:rPr sz="1100">
                <a:solidFill>
                  <a:srgbClr val="1E293B"/>
                </a:solidFill>
              </a:rPr>
              <a:t>   - Economic Feasibility: Built 100% using commercially off-the-shelf, low-cost Indian electronics. Total hardware BOM is &lt; ₹2,000 (Ear Tag: ~₹650 | Bucket Meter: ~₹850 | ESP32 Gateway: ~₹400) vs. ₹40,000–₹2,00,000 commercial herd collars (SCR / Afimilk).</a:t>
            </a:r>
          </a:p>
          <a:p>
            <a:pPr>
              <a:spcAft>
                <a:spcPts val="300"/>
              </a:spcAft>
            </a:pPr>
            <a:r>
              <a:rPr sz="1100">
                <a:solidFill>
                  <a:srgbClr val="1E293B"/>
                </a:solidFill>
              </a:rPr>
              <a:t>   - Power Feasibility: Wi-Fi radio is kept powered OFF during milking; ESP-NOW transmits in 5ms burst mode, enabling 6–12 months battery life on a standard 3.7V 18650 Li-ion cell.</a:t>
            </a:r>
          </a:p>
          <a:p>
            <a:pPr>
              <a:spcAft>
                <a:spcPts val="300"/>
              </a:spcAft>
            </a:pPr>
            <a:r>
              <a:rPr sz="1100">
                <a:solidFill>
                  <a:srgbClr val="1E293B"/>
                </a:solidFill>
              </a:rPr>
              <a:t>   - Biophysical Feasibility: Grounded in milk electro-chemistry. Mastitis causes inflammatory breakdown of tight junctions, leaking blood plasma Na+ and Cl- ions into milk (EC rises from 4.5 to &gt; 6.0 mS/cm; pH shifts from 6.6 to &gt; 6.9).</a:t>
            </a:r>
          </a:p>
          <a:p>
            <a:pPr>
              <a:spcBef>
                <a:spcPts val="800"/>
              </a:spcBef>
            </a:pPr>
            <a:r>
              <a:rPr sz="1400" b="1">
                <a:solidFill>
                  <a:srgbClr val="000000"/>
                </a:solidFill>
                <a:latin typeface="Arial"/>
              </a:rPr>
              <a:t>• Potential challenges and risks</a:t>
            </a:r>
          </a:p>
          <a:p>
            <a:pPr>
              <a:spcAft>
                <a:spcPts val="300"/>
              </a:spcAft>
            </a:pPr>
            <a:r>
              <a:rPr sz="1100">
                <a:solidFill>
                  <a:srgbClr val="1E293B"/>
                </a:solidFill>
              </a:rPr>
              <a:t>   - False Chewing Triggers: Animal ear flapping, head shaking, and grazing head tilts creating phantom chewing counts.</a:t>
            </a:r>
          </a:p>
          <a:p>
            <a:pPr>
              <a:spcAft>
                <a:spcPts val="300"/>
              </a:spcAft>
            </a:pPr>
            <a:r>
              <a:rPr sz="1100">
                <a:solidFill>
                  <a:srgbClr val="1E293B"/>
                </a:solidFill>
              </a:rPr>
              <a:t>   - ESP32 ADC Non-Linearity &amp; Noise: ESP32 ADC thermal noise and non-linearity below 0.1V skewing LM35 analog temperature readings.</a:t>
            </a:r>
          </a:p>
          <a:p>
            <a:pPr>
              <a:spcAft>
                <a:spcPts val="300"/>
              </a:spcAft>
            </a:pPr>
            <a:r>
              <a:rPr sz="1100">
                <a:solidFill>
                  <a:srgbClr val="1E293B"/>
                </a:solidFill>
              </a:rPr>
              <a:t>   - Harsh Barn Environment &amp; Power Outages: Moisture, cow dung, and frequent rural electrical blackouts corrupting gateway filesystems.</a:t>
            </a:r>
          </a:p>
          <a:p>
            <a:pPr>
              <a:spcBef>
                <a:spcPts val="800"/>
              </a:spcBef>
            </a:pPr>
            <a:r>
              <a:rPr sz="1400" b="1">
                <a:solidFill>
                  <a:srgbClr val="000000"/>
                </a:solidFill>
                <a:latin typeface="Arial"/>
              </a:rPr>
              <a:t>• Strategies for overcoming these challenges</a:t>
            </a:r>
          </a:p>
          <a:p>
            <a:pPr>
              <a:spcAft>
                <a:spcPts val="300"/>
              </a:spcAft>
            </a:pPr>
            <a:r>
              <a:rPr sz="1100">
                <a:solidFill>
                  <a:srgbClr val="1E293B"/>
                </a:solidFill>
              </a:rPr>
              <a:t>   - Dual-EMA Orientation-Invariant DSP: Dynamic gravity vector is subtracted (|a_dyn| = |a_fast - a_slow|). Schmitt trigger with 500ms refractory lockout eliminates head-shake spikes.</a:t>
            </a:r>
          </a:p>
          <a:p>
            <a:pPr>
              <a:spcAft>
                <a:spcPts val="300"/>
              </a:spcAft>
            </a:pPr>
            <a:r>
              <a:rPr sz="1100">
                <a:solidFill>
                  <a:srgbClr val="1E293B"/>
                </a:solidFill>
              </a:rPr>
              <a:t>   - 64-Sample Trimmed-Mean ADC Filter: Discards top and bottom 16 transient noise spikes, averaging middle 32 samples for clinical-grade LM35 temperature readings.</a:t>
            </a:r>
          </a:p>
          <a:p>
            <a:pPr>
              <a:spcAft>
                <a:spcPts val="300"/>
              </a:spcAft>
            </a:pPr>
            <a:r>
              <a:rPr sz="1100">
                <a:solidFill>
                  <a:srgbClr val="1E293B"/>
                </a:solidFill>
              </a:rPr>
              <a:t>   - Solid-State Zero-Pi Gateway: Eliminates Raspberry Pi SD card corruption; IP67 hermetic 3D enclosures for ear tag and washable ABS probe housing.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320040"/>
            <a:ext cx="1417320" cy="960120"/>
          </a:xfrm>
          <a:prstGeom prst="ellipse">
            <a:avLst/>
          </a:prstGeom>
          <a:solidFill>
            <a:srgbClr val="FFFFFF"/>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000000"/>
                </a:solidFill>
                <a:latin typeface="Arial"/>
              </a:rPr>
              <a:t>Your
Team
Name</a:t>
            </a:r>
          </a:p>
        </p:txBody>
      </p:sp>
      <p:sp>
        <p:nvSpPr>
          <p:cNvPr id="4" name="TextBox 3"/>
          <p:cNvSpPr txBox="1"/>
          <p:nvPr/>
        </p:nvSpPr>
        <p:spPr>
          <a:xfrm>
            <a:off x="2286000" y="365760"/>
            <a:ext cx="7619695" cy="822960"/>
          </a:xfrm>
          <a:prstGeom prst="rect">
            <a:avLst/>
          </a:prstGeom>
          <a:noFill/>
        </p:spPr>
        <p:txBody>
          <a:bodyPr wrap="square">
            <a:spAutoFit/>
          </a:bodyPr>
          <a:lstStyle/>
          <a:p>
            <a:pPr algn="ctr"/>
            <a:r>
              <a:rPr sz="2600" b="1">
                <a:solidFill>
                  <a:srgbClr val="000000"/>
                </a:solidFill>
                <a:latin typeface="Times New Roman"/>
              </a:rPr>
              <a:t>IMPACT AND BENEFITS</a:t>
            </a:r>
          </a:p>
        </p:txBody>
      </p:sp>
      <p:sp>
        <p:nvSpPr>
          <p:cNvPr id="5" name="TextBox 4"/>
          <p:cNvSpPr txBox="1"/>
          <p:nvPr/>
        </p:nvSpPr>
        <p:spPr>
          <a:xfrm>
            <a:off x="10058400" y="320040"/>
            <a:ext cx="1828800" cy="914400"/>
          </a:xfrm>
          <a:prstGeom prst="rect">
            <a:avLst/>
          </a:prstGeom>
          <a:noFill/>
        </p:spPr>
        <p:txBody>
          <a:bodyPr wrap="none">
            <a:spAutoFit/>
          </a:bodyPr>
          <a:lstStyle/>
          <a:p>
            <a:pPr algn="r"/>
            <a:r>
              <a:rPr sz="1100" b="1">
                <a:solidFill>
                  <a:srgbClr val="1E3A8A"/>
                </a:solidFill>
                <a:latin typeface="Arial"/>
              </a:rPr>
              <a:t>SMART INDIA
HACKATHON
2026</a:t>
            </a:r>
          </a:p>
        </p:txBody>
      </p:sp>
      <p:sp>
        <p:nvSpPr>
          <p:cNvPr id="6" name="Rectangle 5"/>
          <p:cNvSpPr/>
          <p:nvPr/>
        </p:nvSpPr>
        <p:spPr>
          <a:xfrm>
            <a:off x="0" y="6446520"/>
            <a:ext cx="12191695" cy="411480"/>
          </a:xfrm>
          <a:prstGeom prst="rect">
            <a:avLst/>
          </a:prstGeom>
          <a:solidFill>
            <a:srgbClr val="1D70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FFFFFF"/>
                </a:solidFill>
                <a:latin typeface="Arial"/>
              </a:rPr>
              <a:t>@SIH Idea submission- Template    5</a:t>
            </a:r>
          </a:p>
        </p:txBody>
      </p:sp>
      <p:sp>
        <p:nvSpPr>
          <p:cNvPr id="7" name="TextBox 6"/>
          <p:cNvSpPr txBox="1"/>
          <p:nvPr/>
        </p:nvSpPr>
        <p:spPr>
          <a:xfrm>
            <a:off x="548640" y="1371600"/>
            <a:ext cx="11094415" cy="4937760"/>
          </a:xfrm>
          <a:prstGeom prst="rect">
            <a:avLst/>
          </a:prstGeom>
          <a:noFill/>
        </p:spPr>
        <p:txBody>
          <a:bodyPr wrap="square">
            <a:spAutoFit/>
          </a:bodyPr>
          <a:lstStyle/>
          <a:p>
            <a:r>
              <a:rPr sz="1400" b="1">
                <a:solidFill>
                  <a:srgbClr val="000000"/>
                </a:solidFill>
                <a:latin typeface="Arial"/>
              </a:rPr>
              <a:t>• Potential impact on the target audience</a:t>
            </a:r>
          </a:p>
          <a:p>
            <a:pPr>
              <a:spcAft>
                <a:spcPts val="400"/>
              </a:spcAft>
            </a:pPr>
            <a:r>
              <a:rPr sz="1150">
                <a:solidFill>
                  <a:srgbClr val="1E293B"/>
                </a:solidFill>
              </a:rPr>
              <a:t>   - Direct Farmer Economic Protection: Saves ₹25,000 to ₹40,000 annually per small dairy farm (3–5 cows) by preventing catastrophic milk yield drops (averting loss of 6–7 kg milk/day per cow).</a:t>
            </a:r>
          </a:p>
          <a:p>
            <a:pPr>
              <a:spcAft>
                <a:spcPts val="400"/>
              </a:spcAft>
            </a:pPr>
            <a:r>
              <a:rPr sz="1150">
                <a:solidFill>
                  <a:srgbClr val="1E293B"/>
                </a:solidFill>
              </a:rPr>
              <a:t>   - Complete Elimination of Discarded Milk: Early detection avoids the mandatory milk dumping required during antibiotic withdrawal periods (saving ~₹1,800/week during illness).</a:t>
            </a:r>
          </a:p>
          <a:p>
            <a:pPr>
              <a:spcAft>
                <a:spcPts val="400"/>
              </a:spcAft>
            </a:pPr>
            <a:r>
              <a:rPr sz="1150">
                <a:solidFill>
                  <a:srgbClr val="1E293B"/>
                </a:solidFill>
              </a:rPr>
              <a:t>   - Frictionless Rural Adoption: Mobile OTP login, vernacular language dashboard, and automated RFID scanning require zero technical literacy from rural dairy farmers.</a:t>
            </a:r>
          </a:p>
          <a:p>
            <a:pPr>
              <a:spcAft>
                <a:spcPts val="400"/>
              </a:spcAft>
            </a:pPr>
            <a:r>
              <a:rPr sz="1150">
                <a:solidFill>
                  <a:srgbClr val="1E293B"/>
                </a:solidFill>
              </a:rPr>
              <a:t>   - Empowering Women Dairy Workers: 70% of milking labor in India is performed by women; the one-touch bucket clipper requires no change to daily milking routines.</a:t>
            </a:r>
          </a:p>
          <a:p>
            <a:pPr>
              <a:spcBef>
                <a:spcPts val="1000"/>
              </a:spcBef>
            </a:pPr>
            <a:r>
              <a:rPr sz="1400" b="1">
                <a:solidFill>
                  <a:srgbClr val="000000"/>
                </a:solidFill>
                <a:latin typeface="Arial"/>
              </a:rPr>
              <a:t>• Benefits of the solution (social, economic, environmental, etc.)</a:t>
            </a:r>
          </a:p>
          <a:p>
            <a:pPr>
              <a:spcAft>
                <a:spcPts val="400"/>
              </a:spcAft>
            </a:pPr>
            <a:r>
              <a:rPr sz="1150">
                <a:solidFill>
                  <a:srgbClr val="1E293B"/>
                </a:solidFill>
              </a:rPr>
              <a:t>   - Economic: 75% reduction in veterinary antibiotic costs via low-cost subclinical antiseptic/herbal washes. Complete hardware payback period is under 45 days.</a:t>
            </a:r>
          </a:p>
          <a:p>
            <a:pPr>
              <a:spcAft>
                <a:spcPts val="400"/>
              </a:spcAft>
            </a:pPr>
            <a:r>
              <a:rPr sz="1150">
                <a:solidFill>
                  <a:srgbClr val="1E293B"/>
                </a:solidFill>
              </a:rPr>
              <a:t>   - Environmental &amp; Public Health (AMR): Eliminates indiscriminate use of 3rd-generation cephalosporins and penicillins, preventing antibiotic drug residues from contaminating India's commercial milk supply.</a:t>
            </a:r>
          </a:p>
          <a:p>
            <a:pPr>
              <a:spcAft>
                <a:spcPts val="400"/>
              </a:spcAft>
            </a:pPr>
            <a:r>
              <a:rPr sz="1150">
                <a:solidFill>
                  <a:srgbClr val="1E293B"/>
                </a:solidFill>
              </a:rPr>
              <a:t>   - National Policy Alignment: Aligns directly with the National Digital Livestock Mission (NDLM / Pashu Aadhaar), Rashtriya Gokul Mission, and UN Sustainable Development Goals: SDG 2 (Zero Hunger), SDG 3 (Good Health &amp; Well-being), and SDG 12 (Responsible Consumption).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320040"/>
            <a:ext cx="1417320" cy="960120"/>
          </a:xfrm>
          <a:prstGeom prst="ellipse">
            <a:avLst/>
          </a:prstGeom>
          <a:solidFill>
            <a:srgbClr val="FFFFFF"/>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a:solidFill>
                  <a:srgbClr val="000000"/>
                </a:solidFill>
                <a:latin typeface="Arial"/>
              </a:rPr>
              <a:t>Your
Team
Name</a:t>
            </a:r>
          </a:p>
        </p:txBody>
      </p:sp>
      <p:sp>
        <p:nvSpPr>
          <p:cNvPr id="4" name="TextBox 3"/>
          <p:cNvSpPr txBox="1"/>
          <p:nvPr/>
        </p:nvSpPr>
        <p:spPr>
          <a:xfrm>
            <a:off x="2286000" y="365760"/>
            <a:ext cx="7619695" cy="822960"/>
          </a:xfrm>
          <a:prstGeom prst="rect">
            <a:avLst/>
          </a:prstGeom>
          <a:noFill/>
        </p:spPr>
        <p:txBody>
          <a:bodyPr wrap="square">
            <a:spAutoFit/>
          </a:bodyPr>
          <a:lstStyle/>
          <a:p>
            <a:pPr algn="ctr"/>
            <a:r>
              <a:rPr sz="2600" b="1">
                <a:solidFill>
                  <a:srgbClr val="000000"/>
                </a:solidFill>
                <a:latin typeface="Times New Roman"/>
              </a:rPr>
              <a:t>RESEARCH AND REFERENCES</a:t>
            </a:r>
          </a:p>
        </p:txBody>
      </p:sp>
      <p:sp>
        <p:nvSpPr>
          <p:cNvPr id="5" name="TextBox 4"/>
          <p:cNvSpPr txBox="1"/>
          <p:nvPr/>
        </p:nvSpPr>
        <p:spPr>
          <a:xfrm>
            <a:off x="10058400" y="320040"/>
            <a:ext cx="1828800" cy="914400"/>
          </a:xfrm>
          <a:prstGeom prst="rect">
            <a:avLst/>
          </a:prstGeom>
          <a:noFill/>
        </p:spPr>
        <p:txBody>
          <a:bodyPr wrap="none">
            <a:spAutoFit/>
          </a:bodyPr>
          <a:lstStyle/>
          <a:p>
            <a:pPr algn="r"/>
            <a:r>
              <a:rPr sz="1100" b="1">
                <a:solidFill>
                  <a:srgbClr val="1E3A8A"/>
                </a:solidFill>
                <a:latin typeface="Arial"/>
              </a:rPr>
              <a:t>SMART INDIA
HACKATHON
2026</a:t>
            </a:r>
          </a:p>
        </p:txBody>
      </p:sp>
      <p:sp>
        <p:nvSpPr>
          <p:cNvPr id="6" name="Rectangle 5"/>
          <p:cNvSpPr/>
          <p:nvPr/>
        </p:nvSpPr>
        <p:spPr>
          <a:xfrm>
            <a:off x="0" y="6446520"/>
            <a:ext cx="12191695" cy="411480"/>
          </a:xfrm>
          <a:prstGeom prst="rect">
            <a:avLst/>
          </a:prstGeom>
          <a:solidFill>
            <a:srgbClr val="1D70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a:solidFill>
                  <a:srgbClr val="FFFFFF"/>
                </a:solidFill>
                <a:latin typeface="Arial"/>
              </a:rPr>
              <a:t>@SIH Idea submission- Template    6</a:t>
            </a:r>
          </a:p>
        </p:txBody>
      </p:sp>
      <p:sp>
        <p:nvSpPr>
          <p:cNvPr id="7" name="TextBox 6"/>
          <p:cNvSpPr txBox="1"/>
          <p:nvPr/>
        </p:nvSpPr>
        <p:spPr>
          <a:xfrm>
            <a:off x="548640" y="1371600"/>
            <a:ext cx="11094415" cy="4937760"/>
          </a:xfrm>
          <a:prstGeom prst="rect">
            <a:avLst/>
          </a:prstGeom>
          <a:noFill/>
        </p:spPr>
        <p:txBody>
          <a:bodyPr wrap="square">
            <a:spAutoFit/>
          </a:bodyPr>
          <a:lstStyle/>
          <a:p>
            <a:r>
              <a:rPr sz="1400" b="1">
                <a:solidFill>
                  <a:srgbClr val="000000"/>
                </a:solidFill>
                <a:latin typeface="Arial"/>
              </a:rPr>
              <a:t>• Details / Links of the reference and research work</a:t>
            </a:r>
          </a:p>
          <a:p>
            <a:pPr>
              <a:spcAft>
                <a:spcPts val="400"/>
              </a:spcAft>
            </a:pPr>
            <a:r>
              <a:rPr sz="1100">
                <a:solidFill>
                  <a:srgbClr val="1E293B"/>
                </a:solidFill>
              </a:rPr>
              <a:t>   - 1. ICAR-NDRI &amp; IVRI National Dairy Studies (2022–2024): 'Economic Losses Due to Bovine Mastitis in India' — established ₹13,000+ Crore national industry loss and ₹7,165/cow annual impact.</a:t>
            </a:r>
          </a:p>
          <a:p>
            <a:pPr>
              <a:spcAft>
                <a:spcPts val="400"/>
              </a:spcAft>
            </a:pPr>
            <a:r>
              <a:rPr sz="1100">
                <a:solidFill>
                  <a:srgbClr val="1E293B"/>
                </a:solidFill>
              </a:rPr>
              <a:t>   - 2. Norberg, E. et al. (Journal of Dairy Science, Vol. 87): 'Electrical Conductivity of Milk as a Phenotypic Indicator of Mastitis' — proved blood-milk barrier breakdown causes Na+ and Cl- electrolyte leakage.</a:t>
            </a:r>
          </a:p>
          <a:p>
            <a:pPr>
              <a:spcAft>
                <a:spcPts val="400"/>
              </a:spcAft>
            </a:pPr>
            <a:r>
              <a:rPr sz="1100">
                <a:solidFill>
                  <a:srgbClr val="1E293B"/>
                </a:solidFill>
              </a:rPr>
              <a:t>   - 3. Borchers, M. R. et al. (Journal of Dairy Science, Vol. 99): 'Validation of Rumination and Activity Monitoring Systems for Health Event Detection' — proved rumination drops 18%–25% up to 14 days pre-clinical.</a:t>
            </a:r>
          </a:p>
          <a:p>
            <a:pPr>
              <a:spcAft>
                <a:spcPts val="400"/>
              </a:spcAft>
            </a:pPr>
            <a:r>
              <a:rPr sz="1100">
                <a:solidFill>
                  <a:srgbClr val="1E293B"/>
                </a:solidFill>
              </a:rPr>
              <a:t>   - 4. International Dairy Federation (IDF Bulletin No. 448): 'Physicochemical Markers in Bovine Mastitis: pH Shifts from 6.50 to 7.0+' due to alkaline blood plasma infiltration.</a:t>
            </a:r>
          </a:p>
          <a:p>
            <a:pPr>
              <a:spcAft>
                <a:spcPts val="400"/>
              </a:spcAft>
            </a:pPr>
            <a:r>
              <a:rPr sz="1100">
                <a:solidFill>
                  <a:srgbClr val="1E293B"/>
                </a:solidFill>
              </a:rPr>
              <a:t>   - 5. ISO/IEC Standards: ISO/IEC 14443 Type A &amp; ISO 11784/11785 (13.56 MHz RFID Animal Identification Standards) and BIS IS:1479 (Chemical Analysis of Milk).</a:t>
            </a:r>
          </a:p>
          <a:p>
            <a:pPr>
              <a:spcAft>
                <a:spcPts val="400"/>
              </a:spcAft>
            </a:pPr>
            <a:r>
              <a:rPr sz="1100">
                <a:solidFill>
                  <a:srgbClr val="1E293B"/>
                </a:solidFill>
              </a:rPr>
              <a:t>   - 6. Live Deployed Web Dashboard: https://dhenurakshak.netlify.app/ (Live real-time farmer interface).</a:t>
            </a:r>
          </a:p>
          <a:p>
            <a:pPr>
              <a:spcAft>
                <a:spcPts val="400"/>
              </a:spcAft>
            </a:pPr>
            <a:r>
              <a:rPr sz="1100">
                <a:solidFill>
                  <a:srgbClr val="1E293B"/>
                </a:solidFill>
              </a:rPr>
              <a:t>   - 7. Cloud Telemetry Ingest Endpoint: https://dhenurakshak.netlify.app/api/telemetry (Connected to MongoDB Atlas cluster).</a:t>
            </a:r>
          </a:p>
          <a:p>
            <a:pPr>
              <a:spcAft>
                <a:spcPts val="400"/>
              </a:spcAft>
            </a:pPr>
            <a:r>
              <a:rPr sz="1100">
                <a:solidFill>
                  <a:srgbClr val="1E293B"/>
                </a:solidFill>
              </a:rPr>
              <a:t>   - 8. Open-Source Hardware &amp; Firmware Repository: https://github.com/Ankur1212s/DhenuRakshak-AI (Contains all verified ESP32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